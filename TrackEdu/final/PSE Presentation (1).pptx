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3"/>
  </p:notesMasterIdLst>
  <p:handoutMasterIdLst>
    <p:handoutMasterId r:id="rId14"/>
  </p:handoutMasterIdLst>
  <p:sldIdLst>
    <p:sldId id="496" r:id="rId5"/>
    <p:sldId id="507" r:id="rId6"/>
    <p:sldId id="508" r:id="rId7"/>
    <p:sldId id="509" r:id="rId8"/>
    <p:sldId id="510" r:id="rId9"/>
    <p:sldId id="512" r:id="rId10"/>
    <p:sldId id="513" r:id="rId11"/>
    <p:sldId id="42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69F67-B81C-754D-7E19-0D1FA4E6C32C}" v="616" dt="2026-03-10T09:37:58.159"/>
    <p1510:client id="{99C01A48-6EBA-F5DD-D59E-F16D83C5AF16}" v="521" dt="2026-03-10T09:52:12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43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986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552069 w 10515600"/>
              <a:gd name="csY1" fmla="*/ 0 h 27432"/>
              <a:gd name="csX2" fmla="*/ 893826 w 10515600"/>
              <a:gd name="csY2" fmla="*/ 0 h 27432"/>
              <a:gd name="csX3" fmla="*/ 1761363 w 10515600"/>
              <a:gd name="csY3" fmla="*/ 0 h 27432"/>
              <a:gd name="csX4" fmla="*/ 2313432 w 10515600"/>
              <a:gd name="csY4" fmla="*/ 0 h 27432"/>
              <a:gd name="csX5" fmla="*/ 2865501 w 10515600"/>
              <a:gd name="csY5" fmla="*/ 0 h 27432"/>
              <a:gd name="csX6" fmla="*/ 3733038 w 10515600"/>
              <a:gd name="csY6" fmla="*/ 0 h 27432"/>
              <a:gd name="csX7" fmla="*/ 4179951 w 10515600"/>
              <a:gd name="csY7" fmla="*/ 0 h 27432"/>
              <a:gd name="csX8" fmla="*/ 5047488 w 10515600"/>
              <a:gd name="csY8" fmla="*/ 0 h 27432"/>
              <a:gd name="csX9" fmla="*/ 5915025 w 10515600"/>
              <a:gd name="csY9" fmla="*/ 0 h 27432"/>
              <a:gd name="csX10" fmla="*/ 6572250 w 10515600"/>
              <a:gd name="csY10" fmla="*/ 0 h 27432"/>
              <a:gd name="csX11" fmla="*/ 7439787 w 10515600"/>
              <a:gd name="csY11" fmla="*/ 0 h 27432"/>
              <a:gd name="csX12" fmla="*/ 7991856 w 10515600"/>
              <a:gd name="csY12" fmla="*/ 0 h 27432"/>
              <a:gd name="csX13" fmla="*/ 8543925 w 10515600"/>
              <a:gd name="csY13" fmla="*/ 0 h 27432"/>
              <a:gd name="csX14" fmla="*/ 9306306 w 10515600"/>
              <a:gd name="csY14" fmla="*/ 0 h 27432"/>
              <a:gd name="csX15" fmla="*/ 9858375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9753219 w 10515600"/>
              <a:gd name="csY18" fmla="*/ 27432 h 27432"/>
              <a:gd name="csX19" fmla="*/ 9411462 w 10515600"/>
              <a:gd name="csY19" fmla="*/ 27432 h 27432"/>
              <a:gd name="csX20" fmla="*/ 8964549 w 10515600"/>
              <a:gd name="csY20" fmla="*/ 27432 h 27432"/>
              <a:gd name="csX21" fmla="*/ 8097012 w 10515600"/>
              <a:gd name="csY21" fmla="*/ 27432 h 27432"/>
              <a:gd name="csX22" fmla="*/ 7439787 w 10515600"/>
              <a:gd name="csY22" fmla="*/ 27432 h 27432"/>
              <a:gd name="csX23" fmla="*/ 6992874 w 10515600"/>
              <a:gd name="csY23" fmla="*/ 27432 h 27432"/>
              <a:gd name="csX24" fmla="*/ 6335649 w 10515600"/>
              <a:gd name="csY24" fmla="*/ 27432 h 27432"/>
              <a:gd name="csX25" fmla="*/ 5993892 w 10515600"/>
              <a:gd name="csY25" fmla="*/ 27432 h 27432"/>
              <a:gd name="csX26" fmla="*/ 5652135 w 10515600"/>
              <a:gd name="csY26" fmla="*/ 27432 h 27432"/>
              <a:gd name="csX27" fmla="*/ 4994910 w 10515600"/>
              <a:gd name="csY27" fmla="*/ 27432 h 27432"/>
              <a:gd name="csX28" fmla="*/ 4547997 w 10515600"/>
              <a:gd name="csY28" fmla="*/ 27432 h 27432"/>
              <a:gd name="csX29" fmla="*/ 3785616 w 10515600"/>
              <a:gd name="csY29" fmla="*/ 27432 h 27432"/>
              <a:gd name="csX30" fmla="*/ 3338703 w 10515600"/>
              <a:gd name="csY30" fmla="*/ 27432 h 27432"/>
              <a:gd name="csX31" fmla="*/ 2576322 w 10515600"/>
              <a:gd name="csY31" fmla="*/ 27432 h 27432"/>
              <a:gd name="csX32" fmla="*/ 2234565 w 10515600"/>
              <a:gd name="csY32" fmla="*/ 27432 h 27432"/>
              <a:gd name="csX33" fmla="*/ 1472184 w 10515600"/>
              <a:gd name="csY33" fmla="*/ 27432 h 27432"/>
              <a:gd name="csX34" fmla="*/ 1025271 w 10515600"/>
              <a:gd name="csY34" fmla="*/ 27432 h 27432"/>
              <a:gd name="csX35" fmla="*/ 683514 w 10515600"/>
              <a:gd name="csY35" fmla="*/ 27432 h 27432"/>
              <a:gd name="csX36" fmla="*/ 0 w 10515600"/>
              <a:gd name="csY36" fmla="*/ 27432 h 27432"/>
              <a:gd name="csX37" fmla="*/ 0 w 10515600"/>
              <a:gd name="csY37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sX0" fmla="*/ 0 w 3877056"/>
              <a:gd name="csY0" fmla="*/ 0 h 27432"/>
              <a:gd name="csX1" fmla="*/ 723717 w 3877056"/>
              <a:gd name="csY1" fmla="*/ 0 h 27432"/>
              <a:gd name="csX2" fmla="*/ 1408664 w 3877056"/>
              <a:gd name="csY2" fmla="*/ 0 h 27432"/>
              <a:gd name="csX3" fmla="*/ 2093610 w 3877056"/>
              <a:gd name="csY3" fmla="*/ 0 h 27432"/>
              <a:gd name="csX4" fmla="*/ 2623475 w 3877056"/>
              <a:gd name="csY4" fmla="*/ 0 h 27432"/>
              <a:gd name="csX5" fmla="*/ 3192109 w 3877056"/>
              <a:gd name="csY5" fmla="*/ 0 h 27432"/>
              <a:gd name="csX6" fmla="*/ 3877056 w 3877056"/>
              <a:gd name="csY6" fmla="*/ 0 h 27432"/>
              <a:gd name="csX7" fmla="*/ 3877056 w 3877056"/>
              <a:gd name="csY7" fmla="*/ 27432 h 27432"/>
              <a:gd name="csX8" fmla="*/ 3230880 w 3877056"/>
              <a:gd name="csY8" fmla="*/ 27432 h 27432"/>
              <a:gd name="csX9" fmla="*/ 2701016 w 3877056"/>
              <a:gd name="csY9" fmla="*/ 27432 h 27432"/>
              <a:gd name="csX10" fmla="*/ 2171151 w 3877056"/>
              <a:gd name="csY10" fmla="*/ 27432 h 27432"/>
              <a:gd name="csX11" fmla="*/ 1486205 w 3877056"/>
              <a:gd name="csY11" fmla="*/ 27432 h 27432"/>
              <a:gd name="csX12" fmla="*/ 917570 w 3877056"/>
              <a:gd name="csY12" fmla="*/ 27432 h 27432"/>
              <a:gd name="csX13" fmla="*/ 0 w 3877056"/>
              <a:gd name="csY13" fmla="*/ 27432 h 27432"/>
              <a:gd name="csX14" fmla="*/ 0 w 3877056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4553" y="1297005"/>
            <a:ext cx="7077456" cy="2898648"/>
          </a:xfrm>
        </p:spPr>
        <p:txBody>
          <a:bodyPr/>
          <a:lstStyle/>
          <a:p>
            <a:r>
              <a:rPr lang="en-US" dirty="0" err="1"/>
              <a:t>TrackEDU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5722" y="5223341"/>
            <a:ext cx="6497235" cy="1301666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b="1"/>
              <a:t>Klayden Wong Chen Khai 0372886</a:t>
            </a:r>
          </a:p>
          <a:p>
            <a:r>
              <a:rPr lang="en-US" b="1"/>
              <a:t>Adrian Chan Jun Lim 0372892</a:t>
            </a:r>
            <a:endParaRPr lang="en-US" b="1" dirty="0"/>
          </a:p>
          <a:p>
            <a:r>
              <a:rPr lang="en-US" b="1"/>
              <a:t>Darrel Koh Yao Wen 0371302</a:t>
            </a:r>
            <a:endParaRPr lang="en-US" b="1" dirty="0"/>
          </a:p>
          <a:p>
            <a:r>
              <a:rPr lang="en-US" b="1"/>
              <a:t>Hooi Mun Yew 0372777</a:t>
            </a:r>
            <a:endParaRPr lang="en-US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57A392-6D7F-20F6-42E5-46CE43137B1D}"/>
              </a:ext>
            </a:extLst>
          </p:cNvPr>
          <p:cNvSpPr txBox="1">
            <a:spLocks/>
          </p:cNvSpPr>
          <p:nvPr/>
        </p:nvSpPr>
        <p:spPr>
          <a:xfrm>
            <a:off x="4204970" y="3864186"/>
            <a:ext cx="3796623" cy="11206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Smart attendance system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07EEC-063D-1342-C2E7-2766AED2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4149-7191-2576-60B4-09198FFC6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Background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BC0374A-7EF0-69A8-29B6-92FC55993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Problems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7BA46B9-07BB-3435-8D1D-5F38E6F820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he Hand Black"/>
              </a:rPr>
              <a:t>Time Inefficiency – Paper and p</a:t>
            </a:r>
            <a:r>
              <a:rPr lang="en-US" dirty="0">
                <a:latin typeface="The Hand Black"/>
              </a:rPr>
              <a:t>en method takes a long time</a:t>
            </a:r>
            <a:endParaRPr lang="en-US" dirty="0"/>
          </a:p>
          <a:p>
            <a:r>
              <a:rPr lang="en-US" dirty="0"/>
              <a:t>Human Error – Misreading names, incorrect marking and data entry errors</a:t>
            </a:r>
          </a:p>
          <a:p>
            <a:r>
              <a:rPr lang="en-US" dirty="0"/>
              <a:t>Proxy Attendance – Traditional method can't reliably verify if student physically attended class 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DEC41A-4D53-6B83-FDF0-47A5BFDDC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Solutions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A606D3A-2993-7898-889B-23F74220C25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Passive RFID student ID cards </a:t>
            </a:r>
          </a:p>
          <a:p>
            <a:r>
              <a:rPr lang="en-US"/>
              <a:t>Arduino microcontroller with a RFID reader module</a:t>
            </a:r>
          </a:p>
          <a:p>
            <a:r>
              <a:rPr lang="en-US" dirty="0"/>
              <a:t>A secure web-based dashboard which can be used for real time attendance </a:t>
            </a:r>
            <a:r>
              <a:rPr lang="en-US"/>
              <a:t>management</a:t>
            </a:r>
            <a:r>
              <a:rPr lang="en-US" dirty="0"/>
              <a:t> and </a:t>
            </a:r>
            <a:r>
              <a:rPr lang="en-US"/>
              <a:t>visualization</a:t>
            </a:r>
            <a:endParaRPr lang="en-US" dirty="0"/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49BFE-4638-CAEB-55AE-23E16D32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2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1618-25CE-2EA8-9827-B94B09D3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DB19B-FCE8-378F-8269-2087A911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E51723F-0A0C-E1F2-9AFF-B50A91C35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Target Users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A008948-4175-7230-38D3-82687DC3FA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Teachers – Marks daily attendance</a:t>
            </a:r>
            <a:endParaRPr lang="en-US" dirty="0"/>
          </a:p>
          <a:p>
            <a:r>
              <a:rPr lang="en-US"/>
              <a:t>Administrators – Monitor attendance patterns and generate reports</a:t>
            </a:r>
          </a:p>
          <a:p>
            <a:r>
              <a:rPr lang="en-US"/>
              <a:t>Students – Attends class and makes sure attendance via app is taken</a:t>
            </a:r>
            <a:endParaRPr lang="en-US" dirty="0"/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CD9197-DD7F-512F-EB4A-09E889DC3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Core Features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BC7F1E3-9780-98EA-8D16-7729A5502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6019528" cy="25726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Secure Authentication – Staff login with login credentials</a:t>
            </a:r>
            <a:endParaRPr lang="en-US" dirty="0"/>
          </a:p>
          <a:p>
            <a:r>
              <a:rPr lang="en-US"/>
              <a:t>Manual Attendance Taking – Override and correct attendance status</a:t>
            </a:r>
          </a:p>
          <a:p>
            <a:r>
              <a:rPr lang="en-US"/>
              <a:t>Real Time Feedback – Notifications confirm attendance recording</a:t>
            </a:r>
          </a:p>
          <a:p>
            <a:r>
              <a:rPr lang="en-US" dirty="0"/>
              <a:t>Attendance Report – Filterable report view by </a:t>
            </a:r>
            <a:r>
              <a:rPr lang="en-US"/>
              <a:t>date, class, student</a:t>
            </a:r>
            <a:r>
              <a:rPr lang="en-US" dirty="0"/>
              <a:t>  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4FD11D-AE40-CA1D-561D-BD07A1CE6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926CF-631B-6BF2-2E14-5971B33B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21141-C6E3-1670-3399-E83F6305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/>
              <a:t>Use Case Diagram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sX0" fmla="*/ 0 w 3255095"/>
              <a:gd name="csY0" fmla="*/ 0 h 27432"/>
              <a:gd name="csX1" fmla="*/ 618468 w 3255095"/>
              <a:gd name="csY1" fmla="*/ 0 h 27432"/>
              <a:gd name="csX2" fmla="*/ 1269487 w 3255095"/>
              <a:gd name="csY2" fmla="*/ 0 h 27432"/>
              <a:gd name="csX3" fmla="*/ 1953057 w 3255095"/>
              <a:gd name="csY3" fmla="*/ 0 h 27432"/>
              <a:gd name="csX4" fmla="*/ 2636627 w 3255095"/>
              <a:gd name="csY4" fmla="*/ 0 h 27432"/>
              <a:gd name="csX5" fmla="*/ 3255095 w 3255095"/>
              <a:gd name="csY5" fmla="*/ 0 h 27432"/>
              <a:gd name="csX6" fmla="*/ 3255095 w 3255095"/>
              <a:gd name="csY6" fmla="*/ 27432 h 27432"/>
              <a:gd name="csX7" fmla="*/ 2538974 w 3255095"/>
              <a:gd name="csY7" fmla="*/ 27432 h 27432"/>
              <a:gd name="csX8" fmla="*/ 1822853 w 3255095"/>
              <a:gd name="csY8" fmla="*/ 27432 h 27432"/>
              <a:gd name="csX9" fmla="*/ 1171834 w 3255095"/>
              <a:gd name="csY9" fmla="*/ 27432 h 27432"/>
              <a:gd name="csX10" fmla="*/ 0 w 3255095"/>
              <a:gd name="csY10" fmla="*/ 27432 h 27432"/>
              <a:gd name="csX11" fmla="*/ 0 w 3255095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8AA9D-BF77-692B-F0AB-A1B81AD0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1460" y="6356350"/>
            <a:ext cx="18274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36D914-3CDD-C4B8-A11F-5118E894F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253" y="274118"/>
            <a:ext cx="4946933" cy="616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37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5A6E-EE04-97A2-0714-7F7D08A9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592071-FC47-BEFD-C7C6-FBEF864E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Diagram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8866B9-5F71-7DFA-1D50-B55FA69CD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D292D8-2667-563B-E7BE-2F75E9C3A3E2}"/>
              </a:ext>
            </a:extLst>
          </p:cNvPr>
          <p:cNvSpPr txBox="1"/>
          <p:nvPr/>
        </p:nvSpPr>
        <p:spPr>
          <a:xfrm>
            <a:off x="630936" y="2612488"/>
            <a:ext cx="4213780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Models the static structure of the </a:t>
            </a:r>
            <a:r>
              <a:rPr lang="en-GB" dirty="0" err="1"/>
              <a:t>TrackEDU</a:t>
            </a:r>
            <a:r>
              <a:rPr lang="en-GB" dirty="0"/>
              <a:t>, showing its </a:t>
            </a:r>
            <a:r>
              <a:rPr lang="en-US" dirty="0">
                <a:latin typeface="The Hand Black"/>
              </a:rPr>
              <a:t>classes, attributes, methods, and relationships</a:t>
            </a:r>
          </a:p>
          <a:p>
            <a:endParaRPr lang="en-US" dirty="0">
              <a:latin typeface="The Hand Black"/>
            </a:endParaRPr>
          </a:p>
          <a:p>
            <a:r>
              <a:rPr lang="en-US" sz="2400" b="1" dirty="0">
                <a:latin typeface="The Hand Black"/>
              </a:rPr>
              <a:t>Main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he Hand Black"/>
              </a:rPr>
              <a:t>User – </a:t>
            </a:r>
            <a:r>
              <a:rPr lang="en-MY" dirty="0"/>
              <a:t>Handles login, logout, and profile management.</a:t>
            </a:r>
            <a:endParaRPr lang="en-US" dirty="0">
              <a:latin typeface="The Hand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he Hand Black"/>
              </a:rPr>
              <a:t>Teacher – </a:t>
            </a:r>
            <a:r>
              <a:rPr lang="en-US" dirty="0"/>
              <a:t>Responsible for taking attendance and viewing class rosters</a:t>
            </a:r>
            <a:endParaRPr lang="en-US" dirty="0">
              <a:latin typeface="The Hand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he Hand Black"/>
              </a:rPr>
              <a:t>Class – </a:t>
            </a:r>
            <a:r>
              <a:rPr lang="en-US" dirty="0"/>
              <a:t>Contains the student roster and attendance records</a:t>
            </a:r>
            <a:endParaRPr lang="en-US" dirty="0">
              <a:latin typeface="The Hand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he Hand Black"/>
              </a:rPr>
              <a:t>Student –</a:t>
            </a:r>
            <a:r>
              <a:rPr lang="en-US" dirty="0"/>
              <a:t>Represents students who tap their RFID cards to record attendance</a:t>
            </a:r>
            <a:endParaRPr lang="en-US" dirty="0">
              <a:latin typeface="The Hand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he Hand Black"/>
              </a:rPr>
              <a:t>Administrator –</a:t>
            </a:r>
            <a:r>
              <a:rPr lang="en-US" dirty="0"/>
              <a:t>Manages users and generates attendance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he Hand Black"/>
              </a:rPr>
              <a:t>Attendance – </a:t>
            </a:r>
            <a:r>
              <a:rPr lang="en-MY" dirty="0"/>
              <a:t>Stores attendance information</a:t>
            </a:r>
            <a:endParaRPr lang="en-US" dirty="0">
              <a:latin typeface="The Hand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he Hand Black"/>
              </a:rPr>
              <a:t>Attendance Report - </a:t>
            </a:r>
            <a:r>
              <a:rPr lang="en-US" dirty="0"/>
              <a:t>Generates and exports attendance reports</a:t>
            </a:r>
            <a:endParaRPr lang="en-US" dirty="0">
              <a:latin typeface="The Hand Blac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he Hand Black"/>
            </a:endParaRPr>
          </a:p>
          <a:p>
            <a:endParaRPr lang="en-US" dirty="0">
              <a:highlight>
                <a:srgbClr val="FFFF00"/>
              </a:highlight>
              <a:latin typeface="The Hand Black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4F0DFC-3349-42F6-FAB5-2811E91C6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255" y="0"/>
            <a:ext cx="4097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5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6D83C-7A00-7025-A12B-12DA2D9E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4F97A93-1A19-6B06-7C5B-3059D517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7958C80-1374-53D8-4A0B-68563D175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F4F1A-AF2B-9D3C-FD4E-EF2F6798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dirty="0"/>
              <a:t>Storyboard/</a:t>
            </a:r>
            <a:br>
              <a:rPr lang="en-US" sz="5800" dirty="0"/>
            </a:br>
            <a:r>
              <a:rPr lang="en-US" sz="5800" dirty="0"/>
              <a:t>prototype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DAD8E9C5-087E-F681-D917-5B258C363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sX0" fmla="*/ 0 w 3255095"/>
              <a:gd name="csY0" fmla="*/ 0 h 27432"/>
              <a:gd name="csX1" fmla="*/ 618468 w 3255095"/>
              <a:gd name="csY1" fmla="*/ 0 h 27432"/>
              <a:gd name="csX2" fmla="*/ 1269487 w 3255095"/>
              <a:gd name="csY2" fmla="*/ 0 h 27432"/>
              <a:gd name="csX3" fmla="*/ 1953057 w 3255095"/>
              <a:gd name="csY3" fmla="*/ 0 h 27432"/>
              <a:gd name="csX4" fmla="*/ 2636627 w 3255095"/>
              <a:gd name="csY4" fmla="*/ 0 h 27432"/>
              <a:gd name="csX5" fmla="*/ 3255095 w 3255095"/>
              <a:gd name="csY5" fmla="*/ 0 h 27432"/>
              <a:gd name="csX6" fmla="*/ 3255095 w 3255095"/>
              <a:gd name="csY6" fmla="*/ 27432 h 27432"/>
              <a:gd name="csX7" fmla="*/ 2538974 w 3255095"/>
              <a:gd name="csY7" fmla="*/ 27432 h 27432"/>
              <a:gd name="csX8" fmla="*/ 1822853 w 3255095"/>
              <a:gd name="csY8" fmla="*/ 27432 h 27432"/>
              <a:gd name="csX9" fmla="*/ 1171834 w 3255095"/>
              <a:gd name="csY9" fmla="*/ 27432 h 27432"/>
              <a:gd name="csX10" fmla="*/ 0 w 3255095"/>
              <a:gd name="csY10" fmla="*/ 27432 h 27432"/>
              <a:gd name="csX11" fmla="*/ 0 w 3255095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21DD4-2E36-ADA5-66B6-97BADD643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1460" y="6356350"/>
            <a:ext cx="18274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E9DECE71-BB2F-CE1E-6E67-3DFEC16A55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3" t="99" r="1" b="-268"/>
          <a:stretch>
            <a:fillRect/>
          </a:stretch>
        </p:blipFill>
        <p:spPr>
          <a:xfrm>
            <a:off x="4572942" y="386616"/>
            <a:ext cx="1332647" cy="2914048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</p:pic>
      <p:pic>
        <p:nvPicPr>
          <p:cNvPr id="4" name="Picture Placeholder 11">
            <a:extLst>
              <a:ext uri="{FF2B5EF4-FFF2-40B4-BE49-F238E27FC236}">
                <a16:creationId xmlns:a16="http://schemas.microsoft.com/office/drawing/2014/main" id="{068028F1-84E7-CD61-78E1-39931941C5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8" b="-592"/>
          <a:stretch>
            <a:fillRect/>
          </a:stretch>
        </p:blipFill>
        <p:spPr>
          <a:xfrm>
            <a:off x="6374691" y="397435"/>
            <a:ext cx="1333505" cy="2914048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</p:pic>
      <p:pic>
        <p:nvPicPr>
          <p:cNvPr id="5" name="Picture Placeholder 16">
            <a:extLst>
              <a:ext uri="{FF2B5EF4-FFF2-40B4-BE49-F238E27FC236}">
                <a16:creationId xmlns:a16="http://schemas.microsoft.com/office/drawing/2014/main" id="{3F38BFDF-B42B-0906-2FF6-ADA79D7067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1" b="417"/>
          <a:stretch>
            <a:fillRect/>
          </a:stretch>
        </p:blipFill>
        <p:spPr>
          <a:xfrm>
            <a:off x="8177298" y="397435"/>
            <a:ext cx="1332647" cy="2881715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</p:pic>
      <p:pic>
        <p:nvPicPr>
          <p:cNvPr id="7" name="Picture Placeholder 18">
            <a:extLst>
              <a:ext uri="{FF2B5EF4-FFF2-40B4-BE49-F238E27FC236}">
                <a16:creationId xmlns:a16="http://schemas.microsoft.com/office/drawing/2014/main" id="{92685ECC-3182-CF0E-BE9B-36B8399F64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8" b="345"/>
          <a:stretch>
            <a:fillRect/>
          </a:stretch>
        </p:blipFill>
        <p:spPr>
          <a:xfrm>
            <a:off x="9979047" y="413601"/>
            <a:ext cx="1339928" cy="2881715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C054A2-4C6F-CB5D-8CB8-844FCF1A1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651" y="3546517"/>
            <a:ext cx="1340102" cy="2914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74E88B-B101-1913-AEC0-7A6C57DB3E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529" y="3562684"/>
            <a:ext cx="1332667" cy="2897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12CF93-955B-A925-9FDC-7E9AFA2DB8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8640" y="3527117"/>
            <a:ext cx="1369962" cy="29690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A69721-B1B9-0AC3-3D9A-CB0DFE14EF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9046" y="3527117"/>
            <a:ext cx="1339928" cy="290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2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88439-ACEE-6D23-0111-74A5F37C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0C3A8D6-04D4-A926-83A6-9B24D1B83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0389141-3D31-5E10-B6C6-AA8171000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5BEF6-54D1-B9E1-5990-723BF9F1B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dirty="0"/>
              <a:t>Storyboard/</a:t>
            </a:r>
            <a:br>
              <a:rPr lang="en-US" sz="5800" dirty="0"/>
            </a:br>
            <a:r>
              <a:rPr lang="en-US" sz="5800" dirty="0"/>
              <a:t>prototype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96D15C11-4087-58D5-AA23-E56226E50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sX0" fmla="*/ 0 w 3255095"/>
              <a:gd name="csY0" fmla="*/ 0 h 27432"/>
              <a:gd name="csX1" fmla="*/ 618468 w 3255095"/>
              <a:gd name="csY1" fmla="*/ 0 h 27432"/>
              <a:gd name="csX2" fmla="*/ 1269487 w 3255095"/>
              <a:gd name="csY2" fmla="*/ 0 h 27432"/>
              <a:gd name="csX3" fmla="*/ 1953057 w 3255095"/>
              <a:gd name="csY3" fmla="*/ 0 h 27432"/>
              <a:gd name="csX4" fmla="*/ 2636627 w 3255095"/>
              <a:gd name="csY4" fmla="*/ 0 h 27432"/>
              <a:gd name="csX5" fmla="*/ 3255095 w 3255095"/>
              <a:gd name="csY5" fmla="*/ 0 h 27432"/>
              <a:gd name="csX6" fmla="*/ 3255095 w 3255095"/>
              <a:gd name="csY6" fmla="*/ 27432 h 27432"/>
              <a:gd name="csX7" fmla="*/ 2538974 w 3255095"/>
              <a:gd name="csY7" fmla="*/ 27432 h 27432"/>
              <a:gd name="csX8" fmla="*/ 1822853 w 3255095"/>
              <a:gd name="csY8" fmla="*/ 27432 h 27432"/>
              <a:gd name="csX9" fmla="*/ 1171834 w 3255095"/>
              <a:gd name="csY9" fmla="*/ 27432 h 27432"/>
              <a:gd name="csX10" fmla="*/ 0 w 3255095"/>
              <a:gd name="csY10" fmla="*/ 27432 h 27432"/>
              <a:gd name="csX11" fmla="*/ 0 w 3255095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2D1CC-1B01-D3FA-AC11-B9689BFD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1460" y="6356350"/>
            <a:ext cx="18274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72752D-C637-E008-7357-E2B4F0B2D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140" y="227892"/>
            <a:ext cx="1266083" cy="27530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299864-B4A4-5352-6C12-1DD517DDF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105" y="218590"/>
            <a:ext cx="1266083" cy="27530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B080B6-8E22-B493-ADC7-012C96599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70" y="227892"/>
            <a:ext cx="1266083" cy="27530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7D3A14-EE91-5448-CB4F-B1113A243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35" y="209290"/>
            <a:ext cx="1266083" cy="27716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AA3FB1E-C5AA-49F9-1F64-387B2D0F73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554" y="3429000"/>
            <a:ext cx="1280891" cy="27716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2802399-8ABF-A09C-3781-BA7C008608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1600" y="3429000"/>
            <a:ext cx="1280891" cy="278026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7D2494C-1968-47A9-2A10-94FB28A563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647" y="3376226"/>
            <a:ext cx="1307625" cy="282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5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C60EF-9F20-4E94-8801-8BA37007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/>
              <a:t>Trello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sX0" fmla="*/ 0 w 3255095"/>
              <a:gd name="csY0" fmla="*/ 0 h 27432"/>
              <a:gd name="csX1" fmla="*/ 618468 w 3255095"/>
              <a:gd name="csY1" fmla="*/ 0 h 27432"/>
              <a:gd name="csX2" fmla="*/ 1269487 w 3255095"/>
              <a:gd name="csY2" fmla="*/ 0 h 27432"/>
              <a:gd name="csX3" fmla="*/ 1953057 w 3255095"/>
              <a:gd name="csY3" fmla="*/ 0 h 27432"/>
              <a:gd name="csX4" fmla="*/ 2636627 w 3255095"/>
              <a:gd name="csY4" fmla="*/ 0 h 27432"/>
              <a:gd name="csX5" fmla="*/ 3255095 w 3255095"/>
              <a:gd name="csY5" fmla="*/ 0 h 27432"/>
              <a:gd name="csX6" fmla="*/ 3255095 w 3255095"/>
              <a:gd name="csY6" fmla="*/ 27432 h 27432"/>
              <a:gd name="csX7" fmla="*/ 2538974 w 3255095"/>
              <a:gd name="csY7" fmla="*/ 27432 h 27432"/>
              <a:gd name="csX8" fmla="*/ 1822853 w 3255095"/>
              <a:gd name="csY8" fmla="*/ 27432 h 27432"/>
              <a:gd name="csX9" fmla="*/ 1171834 w 3255095"/>
              <a:gd name="csY9" fmla="*/ 27432 h 27432"/>
              <a:gd name="csX10" fmla="*/ 0 w 3255095"/>
              <a:gd name="csY10" fmla="*/ 27432 h 27432"/>
              <a:gd name="csX11" fmla="*/ 0 w 3255095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F54513"/>
          </a:solidFill>
          <a:ln w="38100" cap="rnd">
            <a:solidFill>
              <a:srgbClr val="F54513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A3822-3DBB-41A6-8C93-47E05C8A7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1460" y="6356350"/>
            <a:ext cx="18274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C18C1E5-FB55-42F5-BD6D-9CC153FCDBE6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55673-F494-8F5E-063F-FE14D9D1F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994" y="1413605"/>
            <a:ext cx="7450916" cy="419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48607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A595FF-F2D2-434C-A89B-B6A4364C47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AD9EFA-E074-4C2F-8F25-BF862B8AB6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D8A49B05-820E-4F16-BCC1-12B2E13002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TM00621257</Template>
  <TotalTime>57</TotalTime>
  <Words>263</Words>
  <Application>Microsoft Office PowerPoint</Application>
  <PresentationFormat>Widescreen</PresentationFormat>
  <Paragraphs>48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The Hand Black</vt:lpstr>
      <vt:lpstr>The Serif Hand Black</vt:lpstr>
      <vt:lpstr>SketchyVTI</vt:lpstr>
      <vt:lpstr>TrackEDU</vt:lpstr>
      <vt:lpstr>Project Background</vt:lpstr>
      <vt:lpstr>Content</vt:lpstr>
      <vt:lpstr>Use Case Diagram</vt:lpstr>
      <vt:lpstr>Class Diagram</vt:lpstr>
      <vt:lpstr>Storyboard/ prototype</vt:lpstr>
      <vt:lpstr>Storyboard/ prototype</vt:lpstr>
      <vt:lpstr>Trello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chan</dc:creator>
  <cp:lastModifiedBy>ADRIAN CHAN JUN LIM</cp:lastModifiedBy>
  <cp:revision>183</cp:revision>
  <dcterms:created xsi:type="dcterms:W3CDTF">2026-03-10T09:04:30Z</dcterms:created>
  <dcterms:modified xsi:type="dcterms:W3CDTF">2026-03-13T15:49:08Z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